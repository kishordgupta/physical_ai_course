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73152" cy="68580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pic>
        <p:nvPicPr>
          <p:cNvPr id="3" name="Image 0" descr="/mnt/data/a_wide_modern_classroom_lab_presentation_scene.png">    </p:cNvPr>
          <p:cNvPicPr>
            <a:picLocks noChangeAspect="1"/>
          </p:cNvPicPr>
          <p:nvPr/>
        </p:nvPicPr>
        <p:blipFill>
          <a:blip r:embed="rId1"/>
          <a:srcRect l="26550" r="26550" t="0" b="0"/>
          <a:stretch/>
        </p:blipFill>
        <p:spPr>
          <a:xfrm>
            <a:off x="6473952" y="0"/>
            <a:ext cx="5715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502920"/>
            <a:ext cx="1600200" cy="34747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580644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71A33"/>
                </a:solidFill>
              </a:rPr>
              <a:t>MODULE 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Exam Review and Capstone Project Presentation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66928" y="3090672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7FB"/>
                </a:solidFill>
              </a:rPr>
              <a:t>Bringing the course together through evidence, interpretation, and communication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66928" y="4160520"/>
            <a:ext cx="4023360" cy="0"/>
          </a:xfrm>
          <a:prstGeom prst="line">
            <a:avLst/>
          </a:prstGeom>
          <a:noFill/>
          <a:ln w="25400">
            <a:solidFill>
              <a:srgbClr val="D6A11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40740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7DEE8"/>
                </a:solidFill>
              </a:rPr>
              <a:t>The final module asks you to demonstrate the full lifecycle: problem, data, analysis, model, ethics, and presentation.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Targets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By the end of this module, you should be able to say and show these skills.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121408"/>
            <a:ext cx="512064" cy="512064"/>
          </a:xfrm>
          <a:prstGeom prst="ellipse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249424"/>
            <a:ext cx="347472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1001268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main concepts and methods from the full course.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3081528"/>
            <a:ext cx="512064" cy="512064"/>
          </a:xfrm>
          <a:prstGeom prst="ellipse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3209544"/>
            <a:ext cx="347472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1001268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a capstone presentation that explains data, analysis, results, and social impact.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5800" y="4041648"/>
            <a:ext cx="512064" cy="512064"/>
          </a:xfrm>
          <a:prstGeom prst="ellipse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4169664"/>
            <a:ext cx="347472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1001268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individual mastery through the final exam and project portfolio.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85800" y="5532120"/>
            <a:ext cx="10835640" cy="640080"/>
          </a:xfrm>
          <a:prstGeom prst="roundRect">
            <a:avLst>
              <a:gd name="adj" fmla="val 14286"/>
            </a:avLst>
          </a:prstGeom>
          <a:solidFill>
            <a:srgbClr val="0D2747"/>
          </a:solidFill>
          <a:ln w="15875">
            <a:solidFill>
              <a:srgbClr val="30A2FF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5532120"/>
            <a:ext cx="73152" cy="640080"/>
          </a:xfrm>
          <a:prstGeom prst="rect">
            <a:avLst/>
          </a:prstGeom>
          <a:solidFill>
            <a:srgbClr val="30A2FF"/>
          </a:solidFill>
          <a:ln w="12700">
            <a:solidFill>
              <a:srgbClr val="30A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5678424"/>
            <a:ext cx="10506456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science skill path: Communication, Modeling, Data Curation, Ethical Reasoning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Full Course in One Question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Can a physical AI system make a responsible decision from real-world data?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621792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must define a meaningful problem.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must be relevant, clean, and documented.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or analysis must be evaluated and interpreted.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recommendation must consider people, context, limits, and risk.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621792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588873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capstone is where technical evidence becomes a clear story.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1874520"/>
            <a:ext cx="4206240" cy="4251960"/>
          </a:xfrm>
          <a:prstGeom prst="roundRect">
            <a:avLst>
              <a:gd name="adj" fmla="val 2609"/>
            </a:avLst>
          </a:prstGeom>
          <a:solidFill>
            <a:srgbClr val="0D2747"/>
          </a:solidFill>
          <a:ln w="12700">
            <a:solidFill>
              <a:srgbClr val="1F5D99">
                <a:alpha val="60000"/>
              </a:srgbClr>
            </a:solidFill>
            <a:prstDash val="solid"/>
          </a:ln>
        </p:spPr>
      </p:sp>
      <p:pic>
        <p:nvPicPr>
          <p:cNvPr id="12" name="Image 0" descr="/mnt/data/a_wide_modern_classroom_lab_presentation_scene.png">    </p:cNvPr>
          <p:cNvPicPr>
            <a:picLocks noChangeAspect="1"/>
          </p:cNvPicPr>
          <p:nvPr/>
        </p:nvPicPr>
        <p:blipFill>
          <a:blip r:embed="rId1"/>
          <a:srcRect l="22117" r="22117" t="0" b="0"/>
          <a:stretch/>
        </p:blipFill>
        <p:spPr>
          <a:xfrm>
            <a:off x="7479792" y="1993392"/>
            <a:ext cx="3968496" cy="40050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 Science Lifecycle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Use this structure to review your exam concepts and capstone project.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1F5D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Problem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2237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Define need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11226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Data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259689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Acquire/clean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98678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D6A1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EDA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447141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Explore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86130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2AA8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Model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34593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Analyze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73582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30A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045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Ethics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822045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Evaluate risk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610344" y="3145536"/>
            <a:ext cx="292608" cy="310896"/>
          </a:xfrm>
          <a:prstGeom prst="chevron">
            <a:avLst/>
          </a:prstGeom>
          <a:solidFill>
            <a:srgbClr val="A9B7C8">
              <a:alpha val="90000"/>
            </a:srgbClr>
          </a:solidFill>
          <a:ln w="12700">
            <a:solidFill>
              <a:srgbClr val="A9B7C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66960" y="2761488"/>
            <a:ext cx="1417320" cy="1051560"/>
          </a:xfrm>
          <a:prstGeom prst="roundRect">
            <a:avLst>
              <a:gd name="adj" fmla="val 10435"/>
            </a:avLst>
          </a:prstGeom>
          <a:solidFill>
            <a:srgbClr val="0D2747"/>
          </a:solidFill>
          <a:ln w="17780">
            <a:solidFill>
              <a:srgbClr val="D64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94976" y="292608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Story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10094976" y="326440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D7DEE8"/>
                </a:solidFill>
              </a:rPr>
              <a:t>Communicate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22960" y="5166360"/>
            <a:ext cx="10469880" cy="731520"/>
          </a:xfrm>
          <a:prstGeom prst="roundRect">
            <a:avLst>
              <a:gd name="adj" fmla="val 12500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5166360"/>
            <a:ext cx="73152" cy="73152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5312664"/>
            <a:ext cx="10140696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final project makes each lifecycle step visible.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 Concept Map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Review the course by connecting ideas across modules.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D6A11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Physical AI loop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sense, analyze, decide, act, feedback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36118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30A2FF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types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sensor, image, telemetry, location, community indicators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65836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2AA876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Cleaning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missing values, identifiers, types, units, logs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9555480" y="187452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20391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Visualization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92640" y="244144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chart choice, interpretation, clarity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D6A11F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336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63600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classification, regression, clustering, metrics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3611880" y="406908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30A2FF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42336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Deployment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49040" y="463600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edge, cloud, latency, drift, fallback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6583680" y="406908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2AA876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2336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Ethics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20840" y="463600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bias, privacy, fairness, safety, impact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9555480" y="4069080"/>
            <a:ext cx="2304288" cy="1600200"/>
          </a:xfrm>
          <a:prstGeom prst="roundRect">
            <a:avLst>
              <a:gd name="adj" fmla="val 6857"/>
            </a:avLst>
          </a:prstGeom>
          <a:solidFill>
            <a:srgbClr val="0D2747"/>
          </a:solidFill>
          <a:ln w="1397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423367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Communication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92640" y="4636008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7DEE8"/>
                </a:solidFill>
              </a:rPr>
              <a:t>story, evidence, limitations, recommendation</a:t>
            </a:r>
            <a:endParaRPr lang="en-US" sz="1270" dirty="0"/>
          </a:p>
        </p:txBody>
      </p:sp>
      <p:sp>
        <p:nvSpPr>
          <p:cNvPr id="31" name="Text 29"/>
          <p:cNvSpPr/>
          <p:nvPr/>
        </p:nvSpPr>
        <p:spPr>
          <a:xfrm>
            <a:off x="685800" y="5897880"/>
            <a:ext cx="1078992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 checks how well you connect concepts, not only how well you recall terms.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Review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Know what each metric tells you and what it does not tell you.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60704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Accuracy: overall share of correct predictions.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Precision: how often predicted positives are correct.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Recall: how many actual positives are found.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score: balance between precision and recall.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 or RMSE: average size of numeric prediction errors.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1027785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metric must be interpreted in relation to the cost of error.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Exam Distinctions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These pairs often appear in scenario-based questions.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5074920" cy="3291840"/>
          </a:xfrm>
          <a:prstGeom prst="roundRect">
            <a:avLst>
              <a:gd name="adj" fmla="val 3611"/>
            </a:avLst>
          </a:prstGeom>
          <a:solidFill>
            <a:srgbClr val="0D2747"/>
          </a:solidFill>
          <a:ln w="15875">
            <a:solidFill>
              <a:srgbClr val="30A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2128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Concepts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33272" y="2816352"/>
            <a:ext cx="4434840" cy="2011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vs. identifier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Categorical vs. quantitative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 vs. valid zero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vs. causation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074920" cy="3291840"/>
          </a:xfrm>
          <a:prstGeom prst="roundRect">
            <a:avLst>
              <a:gd name="adj" fmla="val 3611"/>
            </a:avLst>
          </a:prstGeom>
          <a:solidFill>
            <a:srgbClr val="0D2747"/>
          </a:solidFill>
          <a:ln w="15875">
            <a:solidFill>
              <a:srgbClr val="D6A1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2128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Concepts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56832" y="2816352"/>
            <a:ext cx="4434840" cy="2011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vs. decision rule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vs. cloud deployment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 vs. false negative</a:t>
            </a:r>
            <a:endParaRPr lang="en-US" sz="1700" dirty="0"/>
          </a:p>
          <a:p>
            <a:r>
              <a:rPr lang="en-US" sz="17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vs. responsibility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0120" y="5623560"/>
            <a:ext cx="10287000" cy="566928"/>
          </a:xfrm>
          <a:prstGeom prst="roundRect">
            <a:avLst>
              <a:gd name="adj" fmla="val 16129"/>
            </a:avLst>
          </a:prstGeom>
          <a:solidFill>
            <a:srgbClr val="0D2747"/>
          </a:solidFill>
          <a:ln w="15875">
            <a:solidFill>
              <a:srgbClr val="2AA876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5623560"/>
            <a:ext cx="73152" cy="566928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5769864"/>
            <a:ext cx="995781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answering, explain the difference using the decision context.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Presentation 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A clear presentation follows the logic of the project lifecycle.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60704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What real-world issue are you addressing?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Data: What evidence did you use, and how did you prepare it?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Analysis: What patterns, model results, or visualizations matter most?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What do the results mean in context?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Recommendation: What physical AI solution or decision is supported?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1027785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audience should understand why the recommendation follows from the evidence.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 Strong Results Slide Shows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Results should be specific, visual, and interpretable.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60704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main chart, table, or model result rather than many small figures.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direct statement of the key pattern or finding.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brief explanation of why the result matters for the physical AI problem.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limitation or uncertainty that should be considered before action.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1027785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result without interpretation is only a display.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Ethics and Impact in the Final Project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Every capstone should include a responsible use statement.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60704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at least one bias or representation risk in the data.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privacy, safety, or security concerns related to the system.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who may benefit and who may be burdened by the recommendation.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what should be monitored if the system were deployed.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1027785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design makes the limits and consequences visible.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Readiness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The final project should be organized enough to show your process.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607040" cy="3017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dataset or sample data file.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or analysis script with comments and reproducible steps.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Visualizations and model outputs used in the report.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slides, report, and short project summary.</a:t>
            </a:r>
            <a:endParaRPr lang="en-US" sz="2100" dirty="0"/>
          </a:p>
          <a:p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explanation of data decisions, limitations, and ethical concerns.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85800" y="534924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49240"/>
            <a:ext cx="73152" cy="68580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5495544"/>
            <a:ext cx="10277856" cy="4297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portfolio demonstrates how you think, not only what you produced.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Presentation Scenario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A short applied scenario connects the concept to a real decision.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10652760" cy="1234440"/>
          </a:xfrm>
          <a:prstGeom prst="roundRect">
            <a:avLst>
              <a:gd name="adj" fmla="val 7407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73152" cy="1234440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203704"/>
            <a:ext cx="10323576" cy="9784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have eight minutes to convince a mixed technical and nontechnical audience that your physical AI recommendation is evidence-based and responsible.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questions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4050792"/>
            <a:ext cx="10149840" cy="15087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chart or result should the audience remember?</a:t>
            </a:r>
            <a:endParaRPr lang="en-US" sz="2000" dirty="0"/>
          </a:p>
          <a:p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limitation should be stated clearly?</a:t>
            </a:r>
            <a:endParaRPr lang="en-US" sz="2000" dirty="0"/>
          </a:p>
          <a:p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action should the audience believe is justified by your evidence?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Use these questions to test the most important ideas from the module.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D6A11F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02996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Can you explain the full path from data source to recommendation?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77240" y="288036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1F5D99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03580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Can you justify your chosen chart or model metric?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1F5D99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404164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Can you describe a limitation without weakening your main finding?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0D2747"/>
          </a:solidFill>
          <a:ln w="12700">
            <a:solidFill>
              <a:srgbClr val="1F5D9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047488"/>
            <a:ext cx="100126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Can you connect the project to a real physical AI decision?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320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E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Exam Review and Capstone Project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536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</a:rPr>
              <a:t>These are the ideas to carry into the next module.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0652760" cy="2971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>
            <a:normAutofit/>
          </a:bodyPr>
          <a:lstStyle/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exam emphasizes interpretation, methodology, and responsible reasoning.</a:t>
            </a:r>
            <a:endParaRPr lang="en-US" sz="2200" dirty="0"/>
          </a:p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capstone project should show the full data science lifecycle.</a:t>
            </a:r>
            <a:endParaRPr lang="en-US" sz="2200" dirty="0"/>
          </a:p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presentation connects problem, data, analysis, ethics, and recommendation.</a:t>
            </a:r>
            <a:endParaRPr lang="en-US" sz="2200" dirty="0"/>
          </a:p>
          <a:p>
            <a:r>
              <a:rPr lang="en-US" sz="22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communication turns technical work into evidence that others can use.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5486400"/>
            <a:ext cx="10378440" cy="658368"/>
          </a:xfrm>
          <a:prstGeom prst="roundRect">
            <a:avLst>
              <a:gd name="adj" fmla="val 13889"/>
            </a:avLst>
          </a:prstGeom>
          <a:solidFill>
            <a:srgbClr val="0D2747"/>
          </a:solidFill>
          <a:ln w="15875">
            <a:solidFill>
              <a:srgbClr val="D6A11F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5486400"/>
            <a:ext cx="73152" cy="658368"/>
          </a:xfrm>
          <a:prstGeom prst="rect">
            <a:avLst/>
          </a:prstGeom>
          <a:solidFill>
            <a:srgbClr val="D6A11F"/>
          </a:solidFill>
          <a:ln w="12700">
            <a:solidFill>
              <a:srgbClr val="D6A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5632704"/>
            <a:ext cx="10049256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goal: present a physical AI solution that is data-driven, responsible, and ready for critique.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E8CA2"/>
                </a:solidFill>
              </a:rPr>
              <a:t>Applied Physical AI + Data Science  |  Module 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Physical AI and Data Science</dc:title>
  <dc:subject>Applied Physical AI and Data Science</dc:subject>
  <dc:creator>Applied Physical AI Course</dc:creator>
  <cp:lastModifiedBy>Applied Physical AI Course</cp:lastModifiedBy>
  <cp:revision>1</cp:revision>
  <dcterms:created xsi:type="dcterms:W3CDTF">2026-06-25T22:39:48Z</dcterms:created>
  <dcterms:modified xsi:type="dcterms:W3CDTF">2026-06-25T22:39:48Z</dcterms:modified>
</cp:coreProperties>
</file>