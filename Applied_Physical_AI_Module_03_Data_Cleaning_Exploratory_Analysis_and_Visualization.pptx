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73152" cy="68580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pic>
        <p:nvPicPr>
          <p:cNvPr id="3" name="Image 0" descr="/mnt/data/a_high_tech_laboratory_office_scene_with_a_dark_m.png">    </p:cNvPr>
          <p:cNvPicPr>
            <a:picLocks noChangeAspect="1"/>
          </p:cNvPicPr>
          <p:nvPr/>
        </p:nvPicPr>
        <p:blipFill>
          <a:blip r:embed="rId1"/>
          <a:srcRect l="26550" r="26550" t="0" b="0"/>
          <a:stretch/>
        </p:blipFill>
        <p:spPr>
          <a:xfrm>
            <a:off x="6473952" y="0"/>
            <a:ext cx="5715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502920"/>
            <a:ext cx="1600200" cy="34747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580644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71A33"/>
                </a:solidFill>
              </a:rPr>
              <a:t>MODULE 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Cleaning, Exploratory Analysis, and Visualization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66928" y="3090672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4F7FB"/>
                </a:solidFill>
              </a:rPr>
              <a:t>Turning raw files into evidence that can be inspected and explained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66928" y="4160520"/>
            <a:ext cx="4023360" cy="0"/>
          </a:xfrm>
          <a:prstGeom prst="line">
            <a:avLst/>
          </a:prstGeom>
          <a:noFill/>
          <a:ln w="25400">
            <a:solidFill>
              <a:srgbClr val="D6A11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40740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DEE8"/>
                </a:solidFill>
              </a:rPr>
              <a:t>Cleaning and visualization are not preparation steps only; they are where many discoveries and errors appear.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Cleaning, Exploratory Analysis, and Visualization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Targets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By the end of this module, you should be able to say and show these skills.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121408"/>
            <a:ext cx="512064" cy="512064"/>
          </a:xfrm>
          <a:prstGeom prst="ellipse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249424"/>
            <a:ext cx="347472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1001268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 common data quality problems and document cleaning decisions.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3081528"/>
            <a:ext cx="512064" cy="512064"/>
          </a:xfrm>
          <a:prstGeom prst="ellipse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3209544"/>
            <a:ext cx="347472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017520"/>
            <a:ext cx="1001268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exploratory analysis to summarize distributions, patterns, and anomalies.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5800" y="4041648"/>
            <a:ext cx="512064" cy="512064"/>
          </a:xfrm>
          <a:prstGeom prst="ellipse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4169664"/>
            <a:ext cx="347472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3977640"/>
            <a:ext cx="1001268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visualizations that match the type of variable and the decision question.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85800" y="5532120"/>
            <a:ext cx="10835640" cy="640080"/>
          </a:xfrm>
          <a:prstGeom prst="roundRect">
            <a:avLst>
              <a:gd name="adj" fmla="val 14286"/>
            </a:avLst>
          </a:prstGeom>
          <a:solidFill>
            <a:srgbClr val="0D2747"/>
          </a:solidFill>
          <a:ln w="15875">
            <a:solidFill>
              <a:srgbClr val="30A2FF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5532120"/>
            <a:ext cx="73152" cy="640080"/>
          </a:xfrm>
          <a:prstGeom prst="rect">
            <a:avLst/>
          </a:prstGeom>
          <a:solidFill>
            <a:srgbClr val="30A2FF"/>
          </a:solidFill>
          <a:ln w="12700">
            <a:solidFill>
              <a:srgbClr val="30A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5678424"/>
            <a:ext cx="105064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science skill path: Data Curation, Data Visualization, Statistics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3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Cleaning, Exploratory Analysis, and Visualization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Cleaning Is Part of Analysis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Raw data often reflect collection conditions as much as real-world conditions.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6217920" cy="3017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 can reveal sensor failure, unavailable records, or uneven reporting.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Outliers may be errors, rare events, or the most important signals in the dataset.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records can inflate counts and distort patterns.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labels can split one category into several false categories.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6217920" cy="685800"/>
          </a:xfrm>
          <a:prstGeom prst="roundRect">
            <a:avLst>
              <a:gd name="adj" fmla="val 13333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5349240"/>
            <a:ext cx="73152" cy="6858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5495544"/>
            <a:ext cx="5888736" cy="429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cleaning decision should be explainable and reproducible.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1874520"/>
            <a:ext cx="4206240" cy="4251960"/>
          </a:xfrm>
          <a:prstGeom prst="roundRect">
            <a:avLst>
              <a:gd name="adj" fmla="val 2609"/>
            </a:avLst>
          </a:prstGeom>
          <a:solidFill>
            <a:srgbClr val="0D2747"/>
          </a:solidFill>
          <a:ln w="12700">
            <a:solidFill>
              <a:srgbClr val="1F5D99">
                <a:alpha val="60000"/>
              </a:srgbClr>
            </a:solidFill>
            <a:prstDash val="solid"/>
          </a:ln>
        </p:spPr>
      </p:sp>
      <p:pic>
        <p:nvPicPr>
          <p:cNvPr id="12" name="Image 0" descr="/mnt/data/a_high_tech_laboratory_office_scene_with_a_dark_m.png">    </p:cNvPr>
          <p:cNvPicPr>
            <a:picLocks noChangeAspect="1"/>
          </p:cNvPicPr>
          <p:nvPr/>
        </p:nvPicPr>
        <p:blipFill>
          <a:blip r:embed="rId1"/>
          <a:srcRect l="22117" r="22117" t="0" b="0"/>
          <a:stretch/>
        </p:blipFill>
        <p:spPr>
          <a:xfrm>
            <a:off x="7479792" y="1993392"/>
            <a:ext cx="3968496" cy="40050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Cleaning, Exploratory Analysis, and Visualization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Reproducible Cleaning Workflow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Move from raw file to analysis-ready data without losing transparency.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1F5D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Load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2237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Read file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112264" y="3145536"/>
            <a:ext cx="292608" cy="310896"/>
          </a:xfrm>
          <a:prstGeom prst="chevron">
            <a:avLst/>
          </a:prstGeom>
          <a:solidFill>
            <a:srgbClr val="A9B7C8">
              <a:alpha val="90000"/>
            </a:srgbClr>
          </a:solidFill>
          <a:ln w="12700">
            <a:solidFill>
              <a:srgbClr val="A9B7C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Inspect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259689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Check shape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986784" y="3145536"/>
            <a:ext cx="292608" cy="310896"/>
          </a:xfrm>
          <a:prstGeom prst="chevron">
            <a:avLst/>
          </a:prstGeom>
          <a:solidFill>
            <a:srgbClr val="A9B7C8">
              <a:alpha val="90000"/>
            </a:srgbClr>
          </a:solidFill>
          <a:ln w="12700">
            <a:solidFill>
              <a:srgbClr val="A9B7C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D6A1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Profile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447141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Find issues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861304" y="3145536"/>
            <a:ext cx="292608" cy="310896"/>
          </a:xfrm>
          <a:prstGeom prst="chevron">
            <a:avLst/>
          </a:prstGeom>
          <a:solidFill>
            <a:srgbClr val="A9B7C8">
              <a:alpha val="90000"/>
            </a:srgbClr>
          </a:solidFill>
          <a:ln w="12700">
            <a:solidFill>
              <a:srgbClr val="A9B7C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2AA8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Clean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634593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Apply rules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735824" y="3145536"/>
            <a:ext cx="292608" cy="310896"/>
          </a:xfrm>
          <a:prstGeom prst="chevron">
            <a:avLst/>
          </a:prstGeom>
          <a:solidFill>
            <a:srgbClr val="A9B7C8">
              <a:alpha val="90000"/>
            </a:srgbClr>
          </a:solidFill>
          <a:ln w="12700">
            <a:solidFill>
              <a:srgbClr val="A9B7C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30A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045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Validate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822045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Confirm logic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9610344" y="3145536"/>
            <a:ext cx="292608" cy="310896"/>
          </a:xfrm>
          <a:prstGeom prst="chevron">
            <a:avLst/>
          </a:prstGeom>
          <a:solidFill>
            <a:srgbClr val="A9B7C8">
              <a:alpha val="90000"/>
            </a:srgbClr>
          </a:solidFill>
          <a:ln w="12700">
            <a:solidFill>
              <a:srgbClr val="A9B7C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6696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D64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9497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Save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1009497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Document output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22960" y="5166360"/>
            <a:ext cx="10469880" cy="731520"/>
          </a:xfrm>
          <a:prstGeom prst="roundRect">
            <a:avLst>
              <a:gd name="adj" fmla="val 12500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5166360"/>
            <a:ext cx="73152" cy="73152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5312664"/>
            <a:ext cx="10140696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project should be able to explain what changed between the raw and cleaned dataset.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Cleaning, Exploratory Analysis, and Visualization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Quality Checklist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A quick scan can prevent major downstream errors.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D6A11F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391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Missing values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blank, null, unknown, not available</a:t>
            </a:r>
            <a:endParaRPr lang="en-US" sz="1270" dirty="0"/>
          </a:p>
        </p:txBody>
      </p:sp>
      <p:sp>
        <p:nvSpPr>
          <p:cNvPr id="10" name="Shape 8"/>
          <p:cNvSpPr/>
          <p:nvPr/>
        </p:nvSpPr>
        <p:spPr>
          <a:xfrm>
            <a:off x="3611880" y="187452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D64545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0391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Duplicates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244144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repeated rows, repeated IDs, repeated events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6583680" y="187452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30A2FF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0391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Invalid ranges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0840" y="244144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negative age, impossible speed, score outside scale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9555480" y="187452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20391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Wrong data type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92640" y="244144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dates as text, IDs as numbers, scores as strings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2AA876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336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Inconsistent labels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63600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ATL, Atlanta, atlanta, City of Atlanta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3611880" y="406908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D6A11F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42336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Unclear units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49040" y="463600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miles vs. meters, minutes vs. seconds</a:t>
            </a:r>
            <a:endParaRPr lang="en-US" sz="1270" dirty="0"/>
          </a:p>
        </p:txBody>
      </p:sp>
      <p:sp>
        <p:nvSpPr>
          <p:cNvPr id="25" name="Shape 23"/>
          <p:cNvSpPr/>
          <p:nvPr/>
        </p:nvSpPr>
        <p:spPr>
          <a:xfrm>
            <a:off x="6583680" y="406908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D64545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2336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Time mismatch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20840" y="463600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different years, zones, or update cycles</a:t>
            </a:r>
            <a:endParaRPr lang="en-US" sz="1270" dirty="0"/>
          </a:p>
        </p:txBody>
      </p:sp>
      <p:sp>
        <p:nvSpPr>
          <p:cNvPr id="28" name="Shape 26"/>
          <p:cNvSpPr/>
          <p:nvPr/>
        </p:nvSpPr>
        <p:spPr>
          <a:xfrm>
            <a:off x="9555480" y="406908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30A2FF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0" y="42336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Spatial mismatch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92640" y="463600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tract, zip, neighborhood, point coordinate</a:t>
            </a:r>
            <a:endParaRPr lang="en-US" sz="1270" dirty="0"/>
          </a:p>
        </p:txBody>
      </p:sp>
      <p:sp>
        <p:nvSpPr>
          <p:cNvPr id="31" name="Text 29"/>
          <p:cNvSpPr/>
          <p:nvPr/>
        </p:nvSpPr>
        <p:spPr>
          <a:xfrm>
            <a:off x="685800" y="5897880"/>
            <a:ext cx="1078992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checklist becomes stronger when paired with a written cleaning log.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3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Cleaning, Exploratory Analysis, and Visualization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Quantitative vs. Categorical Variables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The variable type determines the summary and the chart.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5074920" cy="3291840"/>
          </a:xfrm>
          <a:prstGeom prst="roundRect">
            <a:avLst>
              <a:gd name="adj" fmla="val 3611"/>
            </a:avLst>
          </a:prstGeom>
          <a:solidFill>
            <a:srgbClr val="0D2747"/>
          </a:solidFill>
          <a:ln w="15875">
            <a:solidFill>
              <a:srgbClr val="30A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2128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Quantitative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33272" y="2816352"/>
            <a:ext cx="4434840" cy="2011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measurement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averaged or compared by range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score, count, temperature, distance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well with histograms, line charts, scatterplots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5074920" cy="3291840"/>
          </a:xfrm>
          <a:prstGeom prst="roundRect">
            <a:avLst>
              <a:gd name="adj" fmla="val 3611"/>
            </a:avLst>
          </a:prstGeom>
          <a:solidFill>
            <a:srgbClr val="0D2747"/>
          </a:solidFill>
          <a:ln w="15875">
            <a:solidFill>
              <a:srgbClr val="D6A1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2128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Categorical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56832" y="2816352"/>
            <a:ext cx="4434840" cy="2011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Group, label, status, or identifier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counted or compared by group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device type, tract ID, risk level, neighborhood name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well with bar charts and grouped summaries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60120" y="5623560"/>
            <a:ext cx="10287000" cy="566928"/>
          </a:xfrm>
          <a:prstGeom prst="roundRect">
            <a:avLst>
              <a:gd name="adj" fmla="val 16129"/>
            </a:avLst>
          </a:prstGeom>
          <a:solidFill>
            <a:srgbClr val="0D2747"/>
          </a:solidFill>
          <a:ln w="15875">
            <a:solidFill>
              <a:srgbClr val="2AA876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5623560"/>
            <a:ext cx="73152" cy="566928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5769864"/>
            <a:ext cx="995781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let the file format decide the variable type; use the meaning of the column.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3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Cleaning, Exploratory Analysis, and Visualization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Reading a Distribution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Before modeling, inspect the shape of the values.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5394960"/>
            <a:ext cx="6492240" cy="0"/>
          </a:xfrm>
          <a:prstGeom prst="line">
            <a:avLst/>
          </a:prstGeom>
          <a:noFill/>
          <a:ln w="12700">
            <a:solidFill>
              <a:srgbClr val="A9B7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965960"/>
            <a:ext cx="0" cy="3429000"/>
          </a:xfrm>
          <a:prstGeom prst="line">
            <a:avLst/>
          </a:prstGeom>
          <a:noFill/>
          <a:ln w="12700">
            <a:solidFill>
              <a:srgbClr val="A9B7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47800" y="3893538"/>
            <a:ext cx="713232" cy="150142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9512" y="3637506"/>
            <a:ext cx="74980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01496" y="5559552"/>
            <a:ext cx="10058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Tract A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648712" y="3340382"/>
            <a:ext cx="713232" cy="2054578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0424" y="3084350"/>
            <a:ext cx="74980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02408" y="5559552"/>
            <a:ext cx="10058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Tract B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849624" y="2668693"/>
            <a:ext cx="713232" cy="2726267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31336" y="2412661"/>
            <a:ext cx="74980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5559552"/>
            <a:ext cx="10058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Tract C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050536" y="3656471"/>
            <a:ext cx="713232" cy="1738489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32248" y="3400439"/>
            <a:ext cx="74980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04232" y="5559552"/>
            <a:ext cx="10058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Tract D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251448" y="2194560"/>
            <a:ext cx="713232" cy="3200400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3160" y="1938528"/>
            <a:ext cx="74980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05144" y="5559552"/>
            <a:ext cx="10058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Tract E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955280" y="214884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2148840"/>
            <a:ext cx="73152" cy="292608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6448" y="2295144"/>
            <a:ext cx="3145536" cy="2670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visualization should support interpretation. Look for high and low values, gaps between groups, and values that require deeper context.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3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Cleaning, Exploratory Analysis, and Visualization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Exploratory Data Analysis Questions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EDA helps reveal what the dataset can and cannot support.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0607040" cy="3017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unit of observation: person, tract, sensor, image, event, or timestamp?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are values distributed, and where are the extreme cases?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variables move together, and which patterns contradict expectations?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be visualized before any model is trained?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5349240"/>
            <a:ext cx="73152" cy="6858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5495544"/>
            <a:ext cx="10277856" cy="429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is evidence-building, not decoration.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3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Cleaning, Exploratory Analysis, and Visualization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Choosing the Right Visualization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A good chart matches the structure of the data and the question.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0607040" cy="3017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bar chart to compare values across categories or locations.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line chart to show change over time.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scatterplot to inspect relationships between two numeric variables.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map when geography is part of the decision.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histogram to inspect the distribution of one numeric variable.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5349240"/>
            <a:ext cx="73152" cy="6858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5495544"/>
            <a:ext cx="10277856" cy="429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chart should make a pattern easier to question, not harder to understand.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3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Cleaning, Exploratory Analysis, and Visualization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Mini-Case: Cleaning Mobility Data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A short applied scenario connects the concept to a real decision.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10652760" cy="1234440"/>
          </a:xfrm>
          <a:prstGeom prst="roundRect">
            <a:avLst>
              <a:gd name="adj" fmla="val 7407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57400"/>
            <a:ext cx="73152" cy="123444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203704"/>
            <a:ext cx="10323576" cy="9784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mobility dataset contains transit stop IDs, neighborhood labels, usage counts, missing coordinates, and several records with impossible negative travel times.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questions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4050792"/>
            <a:ext cx="10149840" cy="15087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columns should be treated as identifiers?</a:t>
            </a:r>
            <a:endParaRPr lang="en-US" sz="2000" dirty="0"/>
          </a:p>
          <a:p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values should be flagged before analysis?</a:t>
            </a:r>
            <a:endParaRPr lang="en-US" sz="2000" dirty="0"/>
          </a:p>
          <a:p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chart would help compare transit usage across neighborhoods?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3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Cleaning, Exploratory Analysis, and Visualization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Cleaning Log: What to Record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The cleaning log protects the credibility of the analysis.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0607040" cy="3017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file name and date accessed.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 removed, renamed, or converted.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 and how they were handled.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Outliers and whether they were kept, corrected, or excluded.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dataset name and analysis-ready structure.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5349240"/>
            <a:ext cx="73152" cy="6858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5495544"/>
            <a:ext cx="10277856" cy="429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cleaning log makes your project easier to grade, reproduce, and trust.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3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Cleaning, Exploratory Analysis, and Visualization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Use these questions to test the most important ideas from the module.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0D2747"/>
          </a:solidFill>
          <a:ln w="12700">
            <a:solidFill>
              <a:srgbClr val="D6A11F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029968"/>
            <a:ext cx="100126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one reason a missing value may not be random?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77240" y="288036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0D2747"/>
          </a:solidFill>
          <a:ln w="12700">
            <a:solidFill>
              <a:srgbClr val="1F5D9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3035808"/>
            <a:ext cx="100126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Why is a data dictionary useful during cleaning?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77240" y="388620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0D2747"/>
          </a:solidFill>
          <a:ln w="12700">
            <a:solidFill>
              <a:srgbClr val="1F5D99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4041648"/>
            <a:ext cx="100126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visualization would you use for change over time?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777240" y="489204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0D2747"/>
          </a:solidFill>
          <a:ln w="12700">
            <a:solidFill>
              <a:srgbClr val="1F5D9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5047488"/>
            <a:ext cx="100126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Why should cleaning decisions be documented?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3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Cleaning, Exploratory Analysis, and Visualization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These are the ideas to carry into the next module.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10652760" cy="29718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 is analytical work because it shapes the evidence.</a:t>
            </a:r>
            <a:endParaRPr lang="en-US" sz="2200" dirty="0"/>
          </a:p>
          <a:p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reveals patterns, errors, gaps, and variables worth modeling.</a:t>
            </a:r>
            <a:endParaRPr lang="en-US" sz="2200" dirty="0"/>
          </a:p>
          <a:p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Visualization choices should match the variable type and question.</a:t>
            </a:r>
            <a:endParaRPr lang="en-US" sz="2200" dirty="0"/>
          </a:p>
          <a:p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reproducible notebook and cleaning log strengthen project credibility.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5486400"/>
            <a:ext cx="10378440" cy="658368"/>
          </a:xfrm>
          <a:prstGeom prst="roundRect">
            <a:avLst>
              <a:gd name="adj" fmla="val 13889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5486400"/>
            <a:ext cx="73152" cy="658368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5632704"/>
            <a:ext cx="10049256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module: building machine learning models after the data has been inspected.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Physical AI and Data Science</dc:title>
  <dc:subject>Applied Physical AI and Data Science</dc:subject>
  <dc:creator>Applied Physical AI Course</dc:creator>
  <cp:lastModifiedBy>Applied Physical AI Course</cp:lastModifiedBy>
  <cp:revision>1</cp:revision>
  <dcterms:created xsi:type="dcterms:W3CDTF">2026-06-25T22:39:47Z</dcterms:created>
  <dcterms:modified xsi:type="dcterms:W3CDTF">2026-06-25T22:39:47Z</dcterms:modified>
</cp:coreProperties>
</file>