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73152" cy="6858000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pic>
        <p:nvPicPr>
          <p:cNvPr id="3" name="Image 0" descr="/mnt/data/a_high_quality_3d_cg_concept_illustration_overall.png">    </p:cNvPr>
          <p:cNvPicPr>
            <a:picLocks noChangeAspect="1"/>
          </p:cNvPicPr>
          <p:nvPr/>
        </p:nvPicPr>
        <p:blipFill>
          <a:blip r:embed="rId1"/>
          <a:srcRect l="26550" r="26550" t="0" b="0"/>
          <a:stretch/>
        </p:blipFill>
        <p:spPr>
          <a:xfrm>
            <a:off x="6473952" y="0"/>
            <a:ext cx="5715000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502920"/>
            <a:ext cx="1600200" cy="347472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580644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71A33"/>
                </a:solidFill>
              </a:rPr>
              <a:t>MODULE 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1417320"/>
            <a:ext cx="5440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Sources, Sensors, and Inclusive Growth Indicators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566928" y="3090672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4F7FB"/>
                </a:solidFill>
              </a:rPr>
              <a:t>Choosing data that can support a responsible physical AI decision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66928" y="4160520"/>
            <a:ext cx="4023360" cy="0"/>
          </a:xfrm>
          <a:prstGeom prst="line">
            <a:avLst/>
          </a:prstGeom>
          <a:noFill/>
          <a:ln w="25400">
            <a:solidFill>
              <a:srgbClr val="D6A11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407408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7DEE8"/>
                </a:solidFill>
              </a:rPr>
              <a:t>Data sources determine what a system can see, what it misses, and what decisions it can justify.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20240" y="3200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Sources, Sensors, and Inclusive Growth Indicators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Targets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5361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7DEE8"/>
                </a:solidFill>
              </a:rPr>
              <a:t>By the end of this module, you should be able to say and show these skills.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121408"/>
            <a:ext cx="512064" cy="512064"/>
          </a:xfrm>
          <a:prstGeom prst="ellipse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2249424"/>
            <a:ext cx="347472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2057400"/>
            <a:ext cx="10012680" cy="7132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useful physical, public, and community data sources for an applied problem.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85800" y="3081528"/>
            <a:ext cx="512064" cy="512064"/>
          </a:xfrm>
          <a:prstGeom prst="ellipse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3209544"/>
            <a:ext cx="347472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3017520"/>
            <a:ext cx="10012680" cy="7132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Distinguish measurements, identifiers, labels, and metadata in a dataset.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85800" y="4041648"/>
            <a:ext cx="512064" cy="512064"/>
          </a:xfrm>
          <a:prstGeom prst="ellipse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4169664"/>
            <a:ext cx="347472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71600" y="3977640"/>
            <a:ext cx="10012680" cy="7132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how data source quality affects physical AI decisions and recommendations.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85800" y="5532120"/>
            <a:ext cx="10835640" cy="640080"/>
          </a:xfrm>
          <a:prstGeom prst="roundRect">
            <a:avLst>
              <a:gd name="adj" fmla="val 14286"/>
            </a:avLst>
          </a:prstGeom>
          <a:solidFill>
            <a:srgbClr val="0D2747"/>
          </a:solidFill>
          <a:ln w="15875">
            <a:solidFill>
              <a:srgbClr val="30A2FF">
                <a:alpha val="8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5532120"/>
            <a:ext cx="73152" cy="640080"/>
          </a:xfrm>
          <a:prstGeom prst="rect">
            <a:avLst/>
          </a:prstGeom>
          <a:solidFill>
            <a:srgbClr val="30A2FF"/>
          </a:solidFill>
          <a:ln w="12700">
            <a:solidFill>
              <a:srgbClr val="30A2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" y="5678424"/>
            <a:ext cx="10506456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science skill path: Data Literacy, Data Curation, Ethical Reasoning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8CA2"/>
                </a:solidFill>
              </a:rPr>
              <a:t>Applied Physical AI + Data Science  |  Module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20240" y="3200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Sources, Sensors, and Inclusive Growth Indicators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Data Source Is a Design Choice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5361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7DEE8"/>
                </a:solidFill>
              </a:rPr>
              <a:t>Before building a model, decide what evidence belongs in the problem.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6217920" cy="301752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>
            <a:normAutofit/>
          </a:bodyPr>
          <a:lstStyle/>
          <a:p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sensor captures one part of reality, not the whole situation.</a:t>
            </a:r>
            <a:endParaRPr lang="en-US" sz="2100" dirty="0"/>
          </a:p>
          <a:p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open dataset may be incomplete, outdated, or collected for a different purpose.</a:t>
            </a:r>
            <a:endParaRPr lang="en-US" sz="2100" dirty="0"/>
          </a:p>
          <a:p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community indicator may reveal structural patterns that are invisible in device data alone.</a:t>
            </a:r>
            <a:endParaRPr lang="en-US" sz="2100" dirty="0"/>
          </a:p>
          <a:p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good dataset is useful only when its limits are understood.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85800" y="5349240"/>
            <a:ext cx="6217920" cy="685800"/>
          </a:xfrm>
          <a:prstGeom prst="roundRect">
            <a:avLst>
              <a:gd name="adj" fmla="val 13333"/>
            </a:avLst>
          </a:prstGeom>
          <a:solidFill>
            <a:srgbClr val="0D2747"/>
          </a:solidFill>
          <a:ln w="15875">
            <a:solidFill>
              <a:srgbClr val="D6A11F">
                <a:alpha val="8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5349240"/>
            <a:ext cx="73152" cy="685800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5495544"/>
            <a:ext cx="5888736" cy="4297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 AI projects need both system data and context data.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60920" y="1874520"/>
            <a:ext cx="4206240" cy="4251960"/>
          </a:xfrm>
          <a:prstGeom prst="roundRect">
            <a:avLst>
              <a:gd name="adj" fmla="val 2609"/>
            </a:avLst>
          </a:prstGeom>
          <a:solidFill>
            <a:srgbClr val="0D2747"/>
          </a:solidFill>
          <a:ln w="12700">
            <a:solidFill>
              <a:srgbClr val="1F5D99">
                <a:alpha val="60000"/>
              </a:srgbClr>
            </a:solidFill>
            <a:prstDash val="solid"/>
          </a:ln>
        </p:spPr>
      </p:sp>
      <p:pic>
        <p:nvPicPr>
          <p:cNvPr id="12" name="Image 0" descr="/mnt/data/a_high_quality_3d_cg_concept_illustration_overall.png">    </p:cNvPr>
          <p:cNvPicPr>
            <a:picLocks noChangeAspect="1"/>
          </p:cNvPicPr>
          <p:nvPr/>
        </p:nvPicPr>
        <p:blipFill>
          <a:blip r:embed="rId1"/>
          <a:srcRect l="22117" r="22117" t="0" b="0"/>
          <a:stretch/>
        </p:blipFill>
        <p:spPr>
          <a:xfrm>
            <a:off x="7479792" y="1993392"/>
            <a:ext cx="3968496" cy="400507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02920" y="647395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8CA2"/>
                </a:solidFill>
              </a:rPr>
              <a:t>Applied Physical AI + Data Science  |  Module 2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20240" y="3200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Sources, Sensors, and Inclusive Growth Indicators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Four Useful Data Families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5361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7DEE8"/>
                </a:solidFill>
              </a:rPr>
              <a:t>Most project datasets come from one or more of these families.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2304288" cy="1600200"/>
          </a:xfrm>
          <a:prstGeom prst="roundRect">
            <a:avLst>
              <a:gd name="adj" fmla="val 6857"/>
            </a:avLst>
          </a:prstGeom>
          <a:solidFill>
            <a:srgbClr val="0D2747"/>
          </a:solidFill>
          <a:ln w="13970">
            <a:solidFill>
              <a:srgbClr val="30A2FF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3911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Sensors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441448"/>
            <a:ext cx="2029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D7DEE8"/>
                </a:solidFill>
              </a:rPr>
              <a:t>device readings from cameras, lidar, temperature, motion, or audio</a:t>
            </a:r>
            <a:endParaRPr lang="en-US" sz="1270" dirty="0"/>
          </a:p>
        </p:txBody>
      </p:sp>
      <p:sp>
        <p:nvSpPr>
          <p:cNvPr id="10" name="Shape 8"/>
          <p:cNvSpPr/>
          <p:nvPr/>
        </p:nvSpPr>
        <p:spPr>
          <a:xfrm>
            <a:off x="3611880" y="1874520"/>
            <a:ext cx="2304288" cy="1600200"/>
          </a:xfrm>
          <a:prstGeom prst="roundRect">
            <a:avLst>
              <a:gd name="adj" fmla="val 6857"/>
            </a:avLst>
          </a:prstGeom>
          <a:solidFill>
            <a:srgbClr val="0D2747"/>
          </a:solidFill>
          <a:ln w="13970">
            <a:solidFill>
              <a:srgbClr val="D6A11F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203911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Telemetry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49040" y="2441448"/>
            <a:ext cx="2029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D7DEE8"/>
                </a:solidFill>
              </a:rPr>
              <a:t>status data from robots, drones, vehicles, and edge devices</a:t>
            </a:r>
            <a:endParaRPr lang="en-US" sz="1270" dirty="0"/>
          </a:p>
        </p:txBody>
      </p:sp>
      <p:sp>
        <p:nvSpPr>
          <p:cNvPr id="13" name="Shape 11"/>
          <p:cNvSpPr/>
          <p:nvPr/>
        </p:nvSpPr>
        <p:spPr>
          <a:xfrm>
            <a:off x="6583680" y="1874520"/>
            <a:ext cx="2304288" cy="1600200"/>
          </a:xfrm>
          <a:prstGeom prst="roundRect">
            <a:avLst>
              <a:gd name="adj" fmla="val 6857"/>
            </a:avLst>
          </a:prstGeom>
          <a:solidFill>
            <a:srgbClr val="0D2747"/>
          </a:solidFill>
          <a:ln w="13970">
            <a:solidFill>
              <a:srgbClr val="2AA876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203911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Open data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20840" y="2441448"/>
            <a:ext cx="2029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D7DEE8"/>
                </a:solidFill>
              </a:rPr>
              <a:t>public records such as transit, safety, health, infrastructure, or environment</a:t>
            </a:r>
            <a:endParaRPr lang="en-US" sz="1270" dirty="0"/>
          </a:p>
        </p:txBody>
      </p:sp>
      <p:sp>
        <p:nvSpPr>
          <p:cNvPr id="16" name="Shape 14"/>
          <p:cNvSpPr/>
          <p:nvPr/>
        </p:nvSpPr>
        <p:spPr>
          <a:xfrm>
            <a:off x="9555480" y="1874520"/>
            <a:ext cx="2304288" cy="1600200"/>
          </a:xfrm>
          <a:prstGeom prst="roundRect">
            <a:avLst>
              <a:gd name="adj" fmla="val 6857"/>
            </a:avLst>
          </a:prstGeom>
          <a:solidFill>
            <a:srgbClr val="0D2747"/>
          </a:solidFill>
          <a:ln w="13970">
            <a:solidFill>
              <a:srgbClr val="8B5CF6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0" y="203911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Community indicators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92640" y="2441448"/>
            <a:ext cx="2029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D7DEE8"/>
                </a:solidFill>
              </a:rPr>
              <a:t>neighborhood-level measures of access, opportunity, and vitality</a:t>
            </a:r>
            <a:endParaRPr lang="en-US" sz="1270" dirty="0"/>
          </a:p>
        </p:txBody>
      </p:sp>
      <p:sp>
        <p:nvSpPr>
          <p:cNvPr id="19" name="Text 17"/>
          <p:cNvSpPr/>
          <p:nvPr/>
        </p:nvSpPr>
        <p:spPr>
          <a:xfrm>
            <a:off x="685800" y="5897880"/>
            <a:ext cx="1078992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C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Combining these sources can make the system more useful and more accountable.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02920" y="647395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8CA2"/>
                </a:solidFill>
              </a:rPr>
              <a:t>Applied Physical AI + Data Science  |  Module 2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20240" y="3200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Sources, Sensors, and Inclusive Growth Indicators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Anatomy of a .csv Dataset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5361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7DEE8"/>
                </a:solidFill>
              </a:rPr>
              <a:t>A simple file can contain many different kinds of meaning.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10607040" cy="301752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>
            <a:normAutofit/>
          </a:bodyPr>
          <a:lstStyle/>
          <a:p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Rows usually represent records, events, locations, devices, or observations.</a:t>
            </a:r>
            <a:endParaRPr lang="en-US" sz="2100" dirty="0"/>
          </a:p>
          <a:p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Columns represent variables such as time, score, status, category, or location identifier.</a:t>
            </a:r>
            <a:endParaRPr lang="en-US" sz="2100" dirty="0"/>
          </a:p>
          <a:p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data dictionary explains what each variable means, how it is measured, and what values are valid.</a:t>
            </a:r>
            <a:endParaRPr lang="en-US" sz="2100" dirty="0"/>
          </a:p>
          <a:p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clean file structure makes analysis reproducible and easier to review.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85800" y="5349240"/>
            <a:ext cx="10607040" cy="685800"/>
          </a:xfrm>
          <a:prstGeom prst="roundRect">
            <a:avLst>
              <a:gd name="adj" fmla="val 13333"/>
            </a:avLst>
          </a:prstGeom>
          <a:solidFill>
            <a:srgbClr val="0D2747"/>
          </a:solidFill>
          <a:ln w="15875">
            <a:solidFill>
              <a:srgbClr val="D6A11F">
                <a:alpha val="8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5349240"/>
            <a:ext cx="73152" cy="685800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5495544"/>
            <a:ext cx="10277856" cy="4297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.csv file is not just a spreadsheet; it is a structured record of evidence.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8CA2"/>
                </a:solidFill>
              </a:rPr>
              <a:t>Applied Physical AI + Data Science  |  Module 2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20240" y="3200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Sources, Sensors, and Inclusive Growth Indicators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Measurement vs. Identifier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5361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7DEE8"/>
                </a:solidFill>
              </a:rPr>
              <a:t>Numbers can behave differently depending on what they represent.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1965960"/>
            <a:ext cx="5074920" cy="3291840"/>
          </a:xfrm>
          <a:prstGeom prst="roundRect">
            <a:avLst>
              <a:gd name="adj" fmla="val 3611"/>
            </a:avLst>
          </a:prstGeom>
          <a:solidFill>
            <a:srgbClr val="0D2747"/>
          </a:solidFill>
          <a:ln w="15875">
            <a:solidFill>
              <a:srgbClr val="30A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21284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Measurement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33272" y="2816352"/>
            <a:ext cx="4434840" cy="20116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>
            <a:normAutofit/>
          </a:bodyPr>
          <a:lstStyle/>
          <a:p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be summarized mathematically</a:t>
            </a:r>
            <a:endParaRPr lang="en-US" sz="1700" dirty="0"/>
          </a:p>
          <a:p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Examples: score, speed, temperature, count</a:t>
            </a:r>
            <a:endParaRPr lang="en-US" sz="1700" dirty="0"/>
          </a:p>
          <a:p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Often used in charts and models</a:t>
            </a:r>
            <a:endParaRPr lang="en-US" sz="1700" dirty="0"/>
          </a:p>
          <a:p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Requires units and scale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309360" y="1965960"/>
            <a:ext cx="5074920" cy="3291840"/>
          </a:xfrm>
          <a:prstGeom prst="roundRect">
            <a:avLst>
              <a:gd name="adj" fmla="val 3611"/>
            </a:avLst>
          </a:prstGeom>
          <a:solidFill>
            <a:srgbClr val="0D2747"/>
          </a:solidFill>
          <a:ln w="15875">
            <a:solidFill>
              <a:srgbClr val="D6A1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221284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Identifier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656832" y="2816352"/>
            <a:ext cx="4434840" cy="20116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>
            <a:normAutofit/>
          </a:bodyPr>
          <a:lstStyle/>
          <a:p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Names a record or location</a:t>
            </a:r>
            <a:endParaRPr lang="en-US" sz="1700" dirty="0"/>
          </a:p>
          <a:p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Examples: tract ID, zip code, device ID</a:t>
            </a:r>
            <a:endParaRPr lang="en-US" sz="1700" dirty="0"/>
          </a:p>
          <a:p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 for joining, filtering, or mapping</a:t>
            </a:r>
            <a:endParaRPr lang="en-US" sz="1700" dirty="0"/>
          </a:p>
          <a:p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Should not be averaged like a measurement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960120" y="5623560"/>
            <a:ext cx="10287000" cy="566928"/>
          </a:xfrm>
          <a:prstGeom prst="roundRect">
            <a:avLst>
              <a:gd name="adj" fmla="val 16129"/>
            </a:avLst>
          </a:prstGeom>
          <a:solidFill>
            <a:srgbClr val="0D2747"/>
          </a:solidFill>
          <a:ln w="15875">
            <a:solidFill>
              <a:srgbClr val="2AA876">
                <a:alpha val="8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5623560"/>
            <a:ext cx="73152" cy="566928"/>
          </a:xfrm>
          <a:prstGeom prst="rect">
            <a:avLst/>
          </a:prstGeom>
          <a:solidFill>
            <a:srgbClr val="2AA876"/>
          </a:solidFill>
          <a:ln w="12700">
            <a:solidFill>
              <a:srgbClr val="2AA8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61288" y="5769864"/>
            <a:ext cx="9957816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numeric-looking ID is not automatically a quantitative variable.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02920" y="647395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8CA2"/>
                </a:solidFill>
              </a:rPr>
              <a:t>Applied Physical AI + Data Science  |  Module 2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20240" y="3200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Sources, Sensors, and Inclusive Growth Indicators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Geographic Scale Changes the Question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5361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7DEE8"/>
                </a:solidFill>
              </a:rPr>
              <a:t>Zip code, census tract, and coordinate data do not describe the same thing.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10607040" cy="301752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>
            <a:normAutofit/>
          </a:bodyPr>
          <a:lstStyle/>
          <a:p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zip code is built for mail delivery and can cross community boundaries.</a:t>
            </a:r>
            <a:endParaRPr lang="en-US" sz="2100" dirty="0"/>
          </a:p>
          <a:p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census tract is a smaller statistical area often used for neighborhood-level analysis.</a:t>
            </a:r>
            <a:endParaRPr lang="en-US" sz="2100" dirty="0"/>
          </a:p>
          <a:p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Latitude and longitude identify specific points but may raise privacy concerns.</a:t>
            </a:r>
            <a:endParaRPr lang="en-US" sz="2100" dirty="0"/>
          </a:p>
          <a:p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chosen geography affects what patterns become visible or hidden.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85800" y="5349240"/>
            <a:ext cx="10607040" cy="685800"/>
          </a:xfrm>
          <a:prstGeom prst="roundRect">
            <a:avLst>
              <a:gd name="adj" fmla="val 13333"/>
            </a:avLst>
          </a:prstGeom>
          <a:solidFill>
            <a:srgbClr val="0D2747"/>
          </a:solidFill>
          <a:ln w="15875">
            <a:solidFill>
              <a:srgbClr val="D6A11F">
                <a:alpha val="8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5349240"/>
            <a:ext cx="73152" cy="685800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5495544"/>
            <a:ext cx="10277856" cy="4297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Always match the map scale to the decision being made.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8CA2"/>
                </a:solidFill>
              </a:rPr>
              <a:t>Applied Physical AI + Data Science  |  Module 2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20240" y="3200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Sources, Sensors, and Inclusive Growth Indicators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Reading Community Indicators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5361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7DEE8"/>
                </a:solidFill>
              </a:rPr>
              <a:t>Three lenses help turn community data into practical design questions.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691640" y="2148840"/>
            <a:ext cx="1234440" cy="1234440"/>
          </a:xfrm>
          <a:prstGeom prst="ellipse">
            <a:avLst/>
          </a:prstGeom>
          <a:solidFill>
            <a:srgbClr val="30A2FF"/>
          </a:solidFill>
          <a:ln w="12700">
            <a:solidFill>
              <a:srgbClr val="30A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566160"/>
            <a:ext cx="29260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58952" y="4069080"/>
            <a:ext cx="2788920" cy="1051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does the physical and social environment make possible?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230368" y="2148840"/>
            <a:ext cx="1234440" cy="1234440"/>
          </a:xfrm>
          <a:prstGeom prst="ellipse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24528" y="3566160"/>
            <a:ext cx="29260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Economy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297680" y="4069080"/>
            <a:ext cx="2788920" cy="1051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signals show opportunity, activity, or financial health?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769096" y="2148840"/>
            <a:ext cx="1234440" cy="1234440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63256" y="3566160"/>
            <a:ext cx="29260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Community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836408" y="4069080"/>
            <a:ext cx="2788920" cy="1051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access, support, and local conditions shape outcomes?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005840" y="5623560"/>
            <a:ext cx="10149840" cy="594360"/>
          </a:xfrm>
          <a:prstGeom prst="roundRect">
            <a:avLst>
              <a:gd name="adj" fmla="val 15385"/>
            </a:avLst>
          </a:prstGeom>
          <a:solidFill>
            <a:srgbClr val="0D2747"/>
          </a:solidFill>
          <a:ln w="15875">
            <a:solidFill>
              <a:srgbClr val="D6A11F">
                <a:alpha val="8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5840" y="5623560"/>
            <a:ext cx="73152" cy="594360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07008" y="5769864"/>
            <a:ext cx="9820656" cy="3383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is not to rank communities; the goal is to understand where a system can help responsibly.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8CA2"/>
                </a:solidFill>
              </a:rPr>
              <a:t>Applied Physical AI + Data Science  |  Module 2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20240" y="3200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Sources, Sensors, and Inclusive Growth Indicators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Combining Data Sources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5361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7DEE8"/>
                </a:solidFill>
              </a:rPr>
              <a:t>A project often requires joining physical-world data with context data.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2761488"/>
            <a:ext cx="1417320" cy="1051560"/>
          </a:xfrm>
          <a:prstGeom prst="roundRect">
            <a:avLst>
              <a:gd name="adj" fmla="val 10435"/>
            </a:avLst>
          </a:prstGeom>
          <a:solidFill>
            <a:srgbClr val="0D2747"/>
          </a:solidFill>
          <a:ln w="17780">
            <a:solidFill>
              <a:srgbClr val="1F5D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376" y="2926080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Select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722376" y="3264408"/>
            <a:ext cx="116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D7DEE8"/>
                </a:solidFill>
              </a:rPr>
              <a:t>Choose sources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2112264" y="3145536"/>
            <a:ext cx="292608" cy="310896"/>
          </a:xfrm>
          <a:prstGeom prst="chevron">
            <a:avLst/>
          </a:prstGeom>
          <a:solidFill>
            <a:srgbClr val="A9B7C8">
              <a:alpha val="90000"/>
            </a:srgbClr>
          </a:solidFill>
          <a:ln w="12700">
            <a:solidFill>
              <a:srgbClr val="A9B7C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0" y="2761488"/>
            <a:ext cx="1417320" cy="1051560"/>
          </a:xfrm>
          <a:prstGeom prst="roundRect">
            <a:avLst>
              <a:gd name="adj" fmla="val 10435"/>
            </a:avLst>
          </a:prstGeom>
          <a:solidFill>
            <a:srgbClr val="0D2747"/>
          </a:solidFill>
          <a:ln w="1778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96896" y="2926080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Inspect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2596896" y="3264408"/>
            <a:ext cx="116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D7DEE8"/>
                </a:solidFill>
              </a:rPr>
              <a:t>Check fields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3986784" y="3145536"/>
            <a:ext cx="292608" cy="310896"/>
          </a:xfrm>
          <a:prstGeom prst="chevron">
            <a:avLst/>
          </a:prstGeom>
          <a:solidFill>
            <a:srgbClr val="A9B7C8">
              <a:alpha val="90000"/>
            </a:srgbClr>
          </a:solidFill>
          <a:ln w="12700">
            <a:solidFill>
              <a:srgbClr val="A9B7C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3400" y="2761488"/>
            <a:ext cx="1417320" cy="1051560"/>
          </a:xfrm>
          <a:prstGeom prst="roundRect">
            <a:avLst>
              <a:gd name="adj" fmla="val 10435"/>
            </a:avLst>
          </a:prstGeom>
          <a:solidFill>
            <a:srgbClr val="0D2747"/>
          </a:solidFill>
          <a:ln w="17780">
            <a:solidFill>
              <a:srgbClr val="D6A1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71416" y="2926080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Clean</a:t>
            </a:r>
            <a:endParaRPr lang="en-US" sz="1280" dirty="0"/>
          </a:p>
        </p:txBody>
      </p:sp>
      <p:sp>
        <p:nvSpPr>
          <p:cNvPr id="17" name="Text 15"/>
          <p:cNvSpPr/>
          <p:nvPr/>
        </p:nvSpPr>
        <p:spPr>
          <a:xfrm>
            <a:off x="4471416" y="3264408"/>
            <a:ext cx="116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D7DEE8"/>
                </a:solidFill>
              </a:rPr>
              <a:t>Fix issues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5861304" y="3145536"/>
            <a:ext cx="292608" cy="310896"/>
          </a:xfrm>
          <a:prstGeom prst="chevron">
            <a:avLst/>
          </a:prstGeom>
          <a:solidFill>
            <a:srgbClr val="A9B7C8">
              <a:alpha val="90000"/>
            </a:srgbClr>
          </a:solidFill>
          <a:ln w="12700">
            <a:solidFill>
              <a:srgbClr val="A9B7C8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2761488"/>
            <a:ext cx="1417320" cy="1051560"/>
          </a:xfrm>
          <a:prstGeom prst="roundRect">
            <a:avLst>
              <a:gd name="adj" fmla="val 10435"/>
            </a:avLst>
          </a:prstGeom>
          <a:solidFill>
            <a:srgbClr val="0D2747"/>
          </a:solidFill>
          <a:ln w="17780">
            <a:solidFill>
              <a:srgbClr val="2AA87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45936" y="2926080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Join</a:t>
            </a:r>
            <a:endParaRPr lang="en-US" sz="1280" dirty="0"/>
          </a:p>
        </p:txBody>
      </p:sp>
      <p:sp>
        <p:nvSpPr>
          <p:cNvPr id="21" name="Text 19"/>
          <p:cNvSpPr/>
          <p:nvPr/>
        </p:nvSpPr>
        <p:spPr>
          <a:xfrm>
            <a:off x="6345936" y="3264408"/>
            <a:ext cx="116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D7DEE8"/>
                </a:solidFill>
              </a:rPr>
              <a:t>Match keys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7735824" y="3145536"/>
            <a:ext cx="292608" cy="310896"/>
          </a:xfrm>
          <a:prstGeom prst="chevron">
            <a:avLst/>
          </a:prstGeom>
          <a:solidFill>
            <a:srgbClr val="A9B7C8">
              <a:alpha val="90000"/>
            </a:srgbClr>
          </a:solidFill>
          <a:ln w="12700">
            <a:solidFill>
              <a:srgbClr val="A9B7C8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92440" y="2761488"/>
            <a:ext cx="1417320" cy="1051560"/>
          </a:xfrm>
          <a:prstGeom prst="roundRect">
            <a:avLst>
              <a:gd name="adj" fmla="val 10435"/>
            </a:avLst>
          </a:prstGeom>
          <a:solidFill>
            <a:srgbClr val="0D2747"/>
          </a:solidFill>
          <a:ln w="17780">
            <a:solidFill>
              <a:srgbClr val="30A2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0456" y="2926080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Validate</a:t>
            </a:r>
            <a:endParaRPr lang="en-US" sz="1280" dirty="0"/>
          </a:p>
        </p:txBody>
      </p:sp>
      <p:sp>
        <p:nvSpPr>
          <p:cNvPr id="25" name="Text 23"/>
          <p:cNvSpPr/>
          <p:nvPr/>
        </p:nvSpPr>
        <p:spPr>
          <a:xfrm>
            <a:off x="8220456" y="3264408"/>
            <a:ext cx="116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D7DEE8"/>
                </a:solidFill>
              </a:rPr>
              <a:t>Check logic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9610344" y="3145536"/>
            <a:ext cx="292608" cy="310896"/>
          </a:xfrm>
          <a:prstGeom prst="chevron">
            <a:avLst/>
          </a:prstGeom>
          <a:solidFill>
            <a:srgbClr val="A9B7C8">
              <a:alpha val="90000"/>
            </a:srgbClr>
          </a:solidFill>
          <a:ln w="12700">
            <a:solidFill>
              <a:srgbClr val="A9B7C8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966960" y="2761488"/>
            <a:ext cx="1417320" cy="1051560"/>
          </a:xfrm>
          <a:prstGeom prst="roundRect">
            <a:avLst>
              <a:gd name="adj" fmla="val 10435"/>
            </a:avLst>
          </a:prstGeom>
          <a:solidFill>
            <a:srgbClr val="0D2747"/>
          </a:solidFill>
          <a:ln w="17780">
            <a:solidFill>
              <a:srgbClr val="D645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94976" y="2926080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Analyze</a:t>
            </a:r>
            <a:endParaRPr lang="en-US" sz="1280" dirty="0"/>
          </a:p>
        </p:txBody>
      </p:sp>
      <p:sp>
        <p:nvSpPr>
          <p:cNvPr id="29" name="Text 27"/>
          <p:cNvSpPr/>
          <p:nvPr/>
        </p:nvSpPr>
        <p:spPr>
          <a:xfrm>
            <a:off x="10094976" y="3264408"/>
            <a:ext cx="116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D7DEE8"/>
                </a:solidFill>
              </a:rPr>
              <a:t>Find insight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822960" y="5166360"/>
            <a:ext cx="10469880" cy="731520"/>
          </a:xfrm>
          <a:prstGeom prst="roundRect">
            <a:avLst>
              <a:gd name="adj" fmla="val 12500"/>
            </a:avLst>
          </a:prstGeom>
          <a:solidFill>
            <a:srgbClr val="0D2747"/>
          </a:solidFill>
          <a:ln w="15875">
            <a:solidFill>
              <a:srgbClr val="D6A11F">
                <a:alpha val="8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" y="5166360"/>
            <a:ext cx="73152" cy="731520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4128" y="5312664"/>
            <a:ext cx="10140696" cy="4754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join is only trustworthy when the key fields truly refer to the same place, time, or unit.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502920" y="647395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8CA2"/>
                </a:solidFill>
              </a:rPr>
              <a:t>Applied Physical AI + Data Science  |  Module 2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20240" y="3200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Sources, Sensors, and Inclusive Growth Indicators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Quality Questions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5361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7DEE8"/>
                </a:solidFill>
              </a:rPr>
              <a:t>Use these questions before trusting a dataset.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10607040" cy="301752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>
            <a:normAutofit/>
          </a:bodyPr>
          <a:lstStyle/>
          <a:p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collected the data, and for what purpose?</a:t>
            </a:r>
            <a:endParaRPr lang="en-US" sz="2100" dirty="0"/>
          </a:p>
          <a:p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time period, geography, population, or device does the data cover?</a:t>
            </a:r>
            <a:endParaRPr lang="en-US" sz="2100" dirty="0"/>
          </a:p>
          <a:p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values are missing, duplicated, inconsistent, or out of range?</a:t>
            </a:r>
            <a:endParaRPr lang="en-US" sz="2100" dirty="0"/>
          </a:p>
          <a:p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decisions would be risky if this dataset were wrong?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85800" y="5349240"/>
            <a:ext cx="10607040" cy="685800"/>
          </a:xfrm>
          <a:prstGeom prst="roundRect">
            <a:avLst>
              <a:gd name="adj" fmla="val 13333"/>
            </a:avLst>
          </a:prstGeom>
          <a:solidFill>
            <a:srgbClr val="0D2747"/>
          </a:solidFill>
          <a:ln w="15875">
            <a:solidFill>
              <a:srgbClr val="D6A11F">
                <a:alpha val="8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5349240"/>
            <a:ext cx="73152" cy="685800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5495544"/>
            <a:ext cx="10277856" cy="4297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quality is not a technical detail; it shapes the fairness and reliability of the system.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8CA2"/>
                </a:solidFill>
              </a:rPr>
              <a:t>Applied Physical AI + Data Science  |  Module 2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20240" y="3200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Sources, Sensors, and Inclusive Growth Indicators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Mini-Case: Environmental Monitoring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5361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7DEE8"/>
                </a:solidFill>
              </a:rPr>
              <a:t>A short applied scenario connects the concept to a real decision.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2057400"/>
            <a:ext cx="10652760" cy="1234440"/>
          </a:xfrm>
          <a:prstGeom prst="roundRect">
            <a:avLst>
              <a:gd name="adj" fmla="val 7407"/>
            </a:avLst>
          </a:prstGeom>
          <a:solidFill>
            <a:srgbClr val="0D2747"/>
          </a:solidFill>
          <a:ln w="15875">
            <a:solidFill>
              <a:srgbClr val="D6A11F">
                <a:alpha val="8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057400"/>
            <a:ext cx="73152" cy="1234440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2203704"/>
            <a:ext cx="10323576" cy="9784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campus wants to deploy low-cost air-quality sensors. Nearby neighborhoods have different infrastructure conditions and different levels of environmental exposure.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6868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questions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0120" y="4050792"/>
            <a:ext cx="10149840" cy="150876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>
            <a:normAutofit/>
          </a:bodyPr>
          <a:lstStyle/>
          <a:p>
            <a:r>
              <a:rPr lang="en-US" sz="20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physical sensor data should be collected?</a:t>
            </a:r>
            <a:endParaRPr lang="en-US" sz="2000" dirty="0"/>
          </a:p>
          <a:p>
            <a:r>
              <a:rPr lang="en-US" sz="20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public or community data would add context?</a:t>
            </a:r>
            <a:endParaRPr lang="en-US" sz="2000" dirty="0"/>
          </a:p>
          <a:p>
            <a:r>
              <a:rPr lang="en-US" sz="20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geographic scale would make the analysis most meaningful?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8CA2"/>
                </a:solidFill>
              </a:rPr>
              <a:t>Applied Physical AI + Data Science  |  Module 2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20240" y="3200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Sources, Sensors, and Inclusive Growth Indicators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5361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7DEE8"/>
                </a:solidFill>
              </a:rPr>
              <a:t>Use these questions to test the most important ideas from the module.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1874520"/>
            <a:ext cx="10607040" cy="749808"/>
          </a:xfrm>
          <a:prstGeom prst="roundRect">
            <a:avLst>
              <a:gd name="adj" fmla="val 9756"/>
            </a:avLst>
          </a:prstGeom>
          <a:solidFill>
            <a:srgbClr val="0D2747"/>
          </a:solidFill>
          <a:ln w="12700">
            <a:solidFill>
              <a:srgbClr val="D6A11F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2029968"/>
            <a:ext cx="1001268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Why should a census tract ID be treated as an identifier instead of a measurement?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777240" y="2880360"/>
            <a:ext cx="10607040" cy="749808"/>
          </a:xfrm>
          <a:prstGeom prst="roundRect">
            <a:avLst>
              <a:gd name="adj" fmla="val 9756"/>
            </a:avLst>
          </a:prstGeom>
          <a:solidFill>
            <a:srgbClr val="0D2747"/>
          </a:solidFill>
          <a:ln w="12700">
            <a:solidFill>
              <a:srgbClr val="1F5D99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3035808"/>
            <a:ext cx="1001268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What is one risk of using a dataset without checking its collection purpose?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777240" y="3886200"/>
            <a:ext cx="10607040" cy="749808"/>
          </a:xfrm>
          <a:prstGeom prst="roundRect">
            <a:avLst>
              <a:gd name="adj" fmla="val 9756"/>
            </a:avLst>
          </a:prstGeom>
          <a:solidFill>
            <a:srgbClr val="0D2747"/>
          </a:solidFill>
          <a:ln w="12700">
            <a:solidFill>
              <a:srgbClr val="1F5D99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4041648"/>
            <a:ext cx="1001268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Why might sensor data need community context?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777240" y="4892040"/>
            <a:ext cx="10607040" cy="749808"/>
          </a:xfrm>
          <a:prstGeom prst="roundRect">
            <a:avLst>
              <a:gd name="adj" fmla="val 9756"/>
            </a:avLst>
          </a:prstGeom>
          <a:solidFill>
            <a:srgbClr val="0D2747"/>
          </a:solidFill>
          <a:ln w="12700">
            <a:solidFill>
              <a:srgbClr val="1F5D99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5047488"/>
            <a:ext cx="1001268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What should be documented in a data dictionary?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502920" y="647395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8CA2"/>
                </a:solidFill>
              </a:rPr>
              <a:t>Applied Physical AI + Data Science  |  Module 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20240" y="3200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Sources, Sensors, and Inclusive Growth Indicators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5361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7DEE8"/>
                </a:solidFill>
              </a:rPr>
              <a:t>These are the ideas to carry into the next module.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10652760" cy="29718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>
            <a:normAutofit/>
          </a:bodyPr>
          <a:lstStyle/>
          <a:p>
            <a:r>
              <a:rPr lang="en-US" sz="2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source selection shapes the entire physical AI project.</a:t>
            </a:r>
            <a:endParaRPr lang="en-US" sz="2200" dirty="0"/>
          </a:p>
          <a:p>
            <a:r>
              <a:rPr lang="en-US" sz="2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Measurements, identifiers, labels, and metadata have different roles.</a:t>
            </a:r>
            <a:endParaRPr lang="en-US" sz="2200" dirty="0"/>
          </a:p>
          <a:p>
            <a:r>
              <a:rPr lang="en-US" sz="2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Community indicators can reveal context that sensors alone may miss.</a:t>
            </a:r>
            <a:endParaRPr lang="en-US" sz="2200" dirty="0"/>
          </a:p>
          <a:p>
            <a:r>
              <a:rPr lang="en-US" sz="2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Responsible analysis requires documenting data limits and cleaning decisions.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14400" y="5486400"/>
            <a:ext cx="10378440" cy="658368"/>
          </a:xfrm>
          <a:prstGeom prst="roundRect">
            <a:avLst>
              <a:gd name="adj" fmla="val 13889"/>
            </a:avLst>
          </a:prstGeom>
          <a:solidFill>
            <a:srgbClr val="0D2747"/>
          </a:solidFill>
          <a:ln w="15875">
            <a:solidFill>
              <a:srgbClr val="D6A11F">
                <a:alpha val="8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5486400"/>
            <a:ext cx="73152" cy="658368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5632704"/>
            <a:ext cx="10049256" cy="40233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module: cleaning, exploring, and visualizing data before modeling.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8CA2"/>
                </a:solidFill>
              </a:rPr>
              <a:t>Applied Physical AI + Data Science  |  Module 2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Applied Physical AI and Data Science</dc:title>
  <dc:subject>Applied Physical AI and Data Science</dc:subject>
  <dc:creator>Applied Physical AI Course</dc:creator>
  <cp:lastModifiedBy>Applied Physical AI Course</cp:lastModifiedBy>
  <cp:revision>1</cp:revision>
  <dcterms:created xsi:type="dcterms:W3CDTF">2026-06-25T22:39:47Z</dcterms:created>
  <dcterms:modified xsi:type="dcterms:W3CDTF">2026-06-25T22:39:47Z</dcterms:modified>
</cp:coreProperties>
</file>